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E48A22-0F18-4210-8CFE-D570AB9A569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0B622D-0075-4E40-B6D8-BEFEF7C06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95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B622D-0075-4E40-B6D8-BEFEF7C06CB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004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376103BE-A838-40EC-A9C7-44E9BC57DDB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6DA6D07-AE54-4F41-B5D2-B659004F4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477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03BE-A838-40EC-A9C7-44E9BC57DDB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A6D07-AE54-4F41-B5D2-B659004F4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557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03BE-A838-40EC-A9C7-44E9BC57DDB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A6D07-AE54-4F41-B5D2-B659004F4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283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03BE-A838-40EC-A9C7-44E9BC57DDB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A6D07-AE54-4F41-B5D2-B659004F4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356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03BE-A838-40EC-A9C7-44E9BC57DDB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A6D07-AE54-4F41-B5D2-B659004F4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60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03BE-A838-40EC-A9C7-44E9BC57DDB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A6D07-AE54-4F41-B5D2-B659004F4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681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03BE-A838-40EC-A9C7-44E9BC57DDB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A6D07-AE54-4F41-B5D2-B659004F4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949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03BE-A838-40EC-A9C7-44E9BC57DDB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A6D07-AE54-4F41-B5D2-B659004F4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439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03BE-A838-40EC-A9C7-44E9BC57DDB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A6D07-AE54-4F41-B5D2-B659004F4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664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03BE-A838-40EC-A9C7-44E9BC57DDB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A6D07-AE54-4F41-B5D2-B659004F4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873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03BE-A838-40EC-A9C7-44E9BC57DDB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A6D07-AE54-4F41-B5D2-B659004F4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866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03BE-A838-40EC-A9C7-44E9BC57DDB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A6D07-AE54-4F41-B5D2-B659004F49AB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68579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03BE-A838-40EC-A9C7-44E9BC57DDB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A6D07-AE54-4F41-B5D2-B659004F4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1029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03BE-A838-40EC-A9C7-44E9BC57DDB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A6D07-AE54-4F41-B5D2-B659004F4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4008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03BE-A838-40EC-A9C7-44E9BC57DDB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A6D07-AE54-4F41-B5D2-B659004F4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7158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03BE-A838-40EC-A9C7-44E9BC57DDB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A6D07-AE54-4F41-B5D2-B659004F4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3389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03BE-A838-40EC-A9C7-44E9BC57DDB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A6D07-AE54-4F41-B5D2-B659004F4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517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6103BE-A838-40EC-A9C7-44E9BC57DDB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DA6D07-AE54-4F41-B5D2-B659004F4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7008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C8369B4-AB2F-1DB0-137E-AC5C6F025718}"/>
              </a:ext>
            </a:extLst>
          </p:cNvPr>
          <p:cNvSpPr txBox="1"/>
          <p:nvPr/>
        </p:nvSpPr>
        <p:spPr>
          <a:xfrm>
            <a:off x="471339" y="535489"/>
            <a:ext cx="1131216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END-TO-END</a:t>
            </a:r>
            <a:b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</a:b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DATA ANALYTICS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B23C3E-3A0E-00BB-CB12-EBF4934A3723}"/>
              </a:ext>
            </a:extLst>
          </p:cNvPr>
          <p:cNvSpPr txBox="1"/>
          <p:nvPr/>
        </p:nvSpPr>
        <p:spPr>
          <a:xfrm>
            <a:off x="606459" y="2407418"/>
            <a:ext cx="110764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atin typeface="Aptos Display" panose="020B0004020202020204" pitchFamily="34" charset="0"/>
              </a:rPr>
              <a:t>Global Superstore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445B70-2A18-3975-29ED-12B4E20137C8}"/>
              </a:ext>
            </a:extLst>
          </p:cNvPr>
          <p:cNvSpPr txBox="1"/>
          <p:nvPr/>
        </p:nvSpPr>
        <p:spPr>
          <a:xfrm>
            <a:off x="509047" y="2992193"/>
            <a:ext cx="112367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📊</a:t>
            </a:r>
            <a:r>
              <a:rPr lang="en-US" sz="2400" dirty="0">
                <a:latin typeface="Aptos Display" panose="020B0004020202020204" pitchFamily="34" charset="0"/>
              </a:rPr>
              <a:t>Excel        |      </a:t>
            </a:r>
            <a:r>
              <a:rPr lang="en-US" sz="2400" dirty="0"/>
              <a:t>🗄️</a:t>
            </a:r>
            <a:r>
              <a:rPr lang="en-US" sz="2400" dirty="0">
                <a:latin typeface="Aptos Display" panose="020B0004020202020204" pitchFamily="34" charset="0"/>
              </a:rPr>
              <a:t>MySQL       |       </a:t>
            </a:r>
            <a:r>
              <a:rPr lang="en-US" sz="2400" dirty="0"/>
              <a:t>📈</a:t>
            </a:r>
            <a:r>
              <a:rPr lang="en-US" sz="2400" dirty="0">
                <a:latin typeface="Aptos Display" panose="020B0004020202020204" pitchFamily="34" charset="0"/>
              </a:rPr>
              <a:t>Power BI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8C0895-B467-E60C-DF81-B0C178509B1C}"/>
              </a:ext>
            </a:extLst>
          </p:cNvPr>
          <p:cNvSpPr txBox="1"/>
          <p:nvPr/>
        </p:nvSpPr>
        <p:spPr>
          <a:xfrm>
            <a:off x="669303" y="3900629"/>
            <a:ext cx="1111420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latin typeface="Aptos Display" panose="020B0004020202020204" pitchFamily="34" charset="0"/>
              </a:rPr>
              <a:t>Transforming Raw Data into</a:t>
            </a:r>
            <a:br>
              <a:rPr lang="en-US" sz="4000" dirty="0">
                <a:latin typeface="Aptos Display" panose="020B0004020202020204" pitchFamily="34" charset="0"/>
              </a:rPr>
            </a:br>
            <a:r>
              <a:rPr lang="en-US" sz="4000" dirty="0">
                <a:latin typeface="Aptos Display" panose="020B0004020202020204" pitchFamily="34" charset="0"/>
              </a:rPr>
              <a:t>Actionable Business Insights</a:t>
            </a:r>
            <a:br>
              <a:rPr lang="en-US" sz="4000" dirty="0">
                <a:latin typeface="Aptos Display" panose="020B0004020202020204" pitchFamily="34" charset="0"/>
              </a:rPr>
            </a:br>
            <a:endParaRPr lang="en-US" sz="4000" dirty="0">
              <a:latin typeface="Aptos Display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B07C91-E32B-A8B0-9920-C76150639DF2}"/>
              </a:ext>
            </a:extLst>
          </p:cNvPr>
          <p:cNvSpPr txBox="1"/>
          <p:nvPr/>
        </p:nvSpPr>
        <p:spPr>
          <a:xfrm>
            <a:off x="10042689" y="6044050"/>
            <a:ext cx="21493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ptos Display" panose="020B0004020202020204" pitchFamily="34" charset="0"/>
              </a:rPr>
              <a:t>Prepared By</a:t>
            </a:r>
            <a:br>
              <a:rPr lang="en-US" dirty="0">
                <a:latin typeface="Aptos Display" panose="020B0004020202020204" pitchFamily="34" charset="0"/>
              </a:rPr>
            </a:br>
            <a:r>
              <a:rPr lang="en-US" dirty="0">
                <a:latin typeface="Aptos Display" panose="020B0004020202020204" pitchFamily="34" charset="0"/>
              </a:rPr>
              <a:t>Sanjana Sharma</a:t>
            </a:r>
          </a:p>
        </p:txBody>
      </p:sp>
    </p:spTree>
    <p:extLst>
      <p:ext uri="{BB962C8B-B14F-4D97-AF65-F5344CB8AC3E}">
        <p14:creationId xmlns:p14="http://schemas.microsoft.com/office/powerpoint/2010/main" val="2981321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E76EC9-B26F-0221-75BB-1E3FFB5AB6CE}"/>
              </a:ext>
            </a:extLst>
          </p:cNvPr>
          <p:cNvSpPr txBox="1"/>
          <p:nvPr/>
        </p:nvSpPr>
        <p:spPr>
          <a:xfrm>
            <a:off x="207389" y="147400"/>
            <a:ext cx="114252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PROJECT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73810D-2A54-F578-BC97-B26CA09AFBB9}"/>
              </a:ext>
            </a:extLst>
          </p:cNvPr>
          <p:cNvSpPr txBox="1"/>
          <p:nvPr/>
        </p:nvSpPr>
        <p:spPr>
          <a:xfrm>
            <a:off x="2536788" y="1091901"/>
            <a:ext cx="3621564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Aptos Display" panose="020B0004020202020204" pitchFamily="34" charset="0"/>
              </a:rPr>
              <a:t>🎯 Objective</a:t>
            </a:r>
          </a:p>
          <a:p>
            <a:r>
              <a:rPr lang="en-US" sz="2000" dirty="0">
                <a:latin typeface="Aptos Display" panose="020B0004020202020204" pitchFamily="34" charset="0"/>
              </a:rPr>
              <a:t>Build an end-to-end BI solution that transforms retail sales data into actionable business insights.</a:t>
            </a:r>
            <a:br>
              <a:rPr lang="en-US" sz="2000" dirty="0">
                <a:latin typeface="Aptos Display" panose="020B0004020202020204" pitchFamily="34" charset="0"/>
              </a:rPr>
            </a:br>
            <a:br>
              <a:rPr lang="en-US" sz="2000" dirty="0">
                <a:latin typeface="Aptos Display" panose="020B0004020202020204" pitchFamily="34" charset="0"/>
              </a:rPr>
            </a:br>
            <a:endParaRPr lang="en-US" sz="2000" dirty="0">
              <a:latin typeface="Aptos Display" panose="020B0004020202020204" pitchFamily="34" charset="0"/>
            </a:endParaRPr>
          </a:p>
          <a:p>
            <a:endParaRPr lang="en-US" sz="2800" dirty="0">
              <a:latin typeface="Aptos Display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92271D-A44D-39FE-6D5B-710FAA4E4B29}"/>
              </a:ext>
            </a:extLst>
          </p:cNvPr>
          <p:cNvSpPr txBox="1"/>
          <p:nvPr/>
        </p:nvSpPr>
        <p:spPr>
          <a:xfrm>
            <a:off x="6714731" y="1091901"/>
            <a:ext cx="448087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Aptos Display" panose="020B0004020202020204" pitchFamily="34" charset="0"/>
              </a:rPr>
              <a:t>📂 Dataset</a:t>
            </a:r>
          </a:p>
          <a:p>
            <a:pPr>
              <a:buNone/>
            </a:pPr>
            <a:r>
              <a:rPr lang="en-US" sz="2000" b="1" dirty="0">
                <a:latin typeface="Aptos Display" panose="020B0004020202020204" pitchFamily="34" charset="0"/>
              </a:rPr>
              <a:t>Global Superstore (Kaggle)</a:t>
            </a:r>
            <a:endParaRPr lang="en-US" sz="2000" dirty="0">
              <a:latin typeface="Aptos Display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 Orders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 Returns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 People </a:t>
            </a:r>
          </a:p>
          <a:p>
            <a:endParaRPr lang="en-US" sz="2000" dirty="0">
              <a:latin typeface="Aptos Display" panose="020B00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6FF50C1-E342-1FE1-FC31-A0F555C83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425197"/>
              </p:ext>
            </p:extLst>
          </p:nvPr>
        </p:nvGraphicFramePr>
        <p:xfrm>
          <a:off x="675588" y="3885392"/>
          <a:ext cx="5023720" cy="396240"/>
        </p:xfrm>
        <a:graphic>
          <a:graphicData uri="http://schemas.openxmlformats.org/drawingml/2006/table">
            <a:tbl>
              <a:tblPr/>
              <a:tblGrid>
                <a:gridCol w="1255930">
                  <a:extLst>
                    <a:ext uri="{9D8B030D-6E8A-4147-A177-3AD203B41FA5}">
                      <a16:colId xmlns:a16="http://schemas.microsoft.com/office/drawing/2014/main" val="2611335705"/>
                    </a:ext>
                  </a:extLst>
                </a:gridCol>
                <a:gridCol w="1255930">
                  <a:extLst>
                    <a:ext uri="{9D8B030D-6E8A-4147-A177-3AD203B41FA5}">
                      <a16:colId xmlns:a16="http://schemas.microsoft.com/office/drawing/2014/main" val="1853378034"/>
                    </a:ext>
                  </a:extLst>
                </a:gridCol>
                <a:gridCol w="1255930">
                  <a:extLst>
                    <a:ext uri="{9D8B030D-6E8A-4147-A177-3AD203B41FA5}">
                      <a16:colId xmlns:a16="http://schemas.microsoft.com/office/drawing/2014/main" val="2373252572"/>
                    </a:ext>
                  </a:extLst>
                </a:gridCol>
                <a:gridCol w="1255930">
                  <a:extLst>
                    <a:ext uri="{9D8B030D-6E8A-4147-A177-3AD203B41FA5}">
                      <a16:colId xmlns:a16="http://schemas.microsoft.com/office/drawing/2014/main" val="7093854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67722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2A7BF36-6D30-2666-9C16-9B201E963D49}"/>
              </a:ext>
            </a:extLst>
          </p:cNvPr>
          <p:cNvSpPr txBox="1"/>
          <p:nvPr/>
        </p:nvSpPr>
        <p:spPr>
          <a:xfrm>
            <a:off x="2536595" y="3573746"/>
            <a:ext cx="65233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Aptos Display" panose="020B0004020202020204" pitchFamily="34" charset="0"/>
              </a:rPr>
              <a:t>🛠️ Tools Used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55CC43-5694-540E-4A54-3DB495E6B7E3}"/>
              </a:ext>
            </a:extLst>
          </p:cNvPr>
          <p:cNvSpPr txBox="1"/>
          <p:nvPr/>
        </p:nvSpPr>
        <p:spPr>
          <a:xfrm>
            <a:off x="6714731" y="3430590"/>
            <a:ext cx="390819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Aptos Display" panose="020B0004020202020204" pitchFamily="34" charset="0"/>
              </a:rPr>
              <a:t>📈 Project Outcome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 Cleaned &amp; Prepared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 SQL Business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 Interactive Dashboards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 Business Recommendations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A282EC-BDBC-E395-022C-20BCE596CC9E}"/>
              </a:ext>
            </a:extLst>
          </p:cNvPr>
          <p:cNvSpPr txBox="1"/>
          <p:nvPr/>
        </p:nvSpPr>
        <p:spPr>
          <a:xfrm>
            <a:off x="518472" y="5765993"/>
            <a:ext cx="111142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atin typeface="Aptos Display" panose="020B0004020202020204" pitchFamily="34" charset="0"/>
              </a:rPr>
              <a:t>Raw Data → Analysis → Visualization → Business Insights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54BBDB-94A7-4107-291D-FD99736C8481}"/>
              </a:ext>
            </a:extLst>
          </p:cNvPr>
          <p:cNvSpPr txBox="1"/>
          <p:nvPr/>
        </p:nvSpPr>
        <p:spPr>
          <a:xfrm>
            <a:off x="2536595" y="4041032"/>
            <a:ext cx="25090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ptos Display" panose="020B0004020202020204" pitchFamily="34" charset="0"/>
              </a:rPr>
              <a:t>📊 Excel 🗄MySQL</a:t>
            </a:r>
            <a:br>
              <a:rPr lang="en-US" sz="2000" dirty="0">
                <a:latin typeface="Aptos Display" panose="020B0004020202020204" pitchFamily="34" charset="0"/>
              </a:rPr>
            </a:br>
            <a:r>
              <a:rPr lang="en-US" sz="2000" dirty="0">
                <a:latin typeface="Aptos Display" panose="020B0004020202020204" pitchFamily="34" charset="0"/>
              </a:rPr>
              <a:t>📈 Power BI📐DAX</a:t>
            </a:r>
          </a:p>
        </p:txBody>
      </p:sp>
    </p:spTree>
    <p:extLst>
      <p:ext uri="{BB962C8B-B14F-4D97-AF65-F5344CB8AC3E}">
        <p14:creationId xmlns:p14="http://schemas.microsoft.com/office/powerpoint/2010/main" val="964615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B0F308-5BF2-7BCF-02B6-3EF701593506}"/>
              </a:ext>
            </a:extLst>
          </p:cNvPr>
          <p:cNvSpPr/>
          <p:nvPr/>
        </p:nvSpPr>
        <p:spPr>
          <a:xfrm>
            <a:off x="652069" y="1598235"/>
            <a:ext cx="2657869" cy="3478589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50000"/>
              </a:schemeClr>
            </a:solidFill>
          </a:ln>
          <a:effectLst>
            <a:outerShdw blurRad="152400" dist="50800" dir="3000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dirty="0">
                <a:latin typeface="Aptos Display" panose="020B0004020202020204" pitchFamily="34" charset="0"/>
              </a:rPr>
              <a:t>📊 Global Superstore Dataset</a:t>
            </a:r>
            <a:br>
              <a:rPr lang="en-US" sz="2000" b="1" dirty="0">
                <a:latin typeface="Aptos Display" panose="020B0004020202020204" pitchFamily="34" charset="0"/>
              </a:rPr>
            </a:br>
            <a:endParaRPr lang="en-US" sz="2000" b="1" dirty="0">
              <a:latin typeface="Aptos Display" panose="020B0004020202020204" pitchFamily="34" charset="0"/>
            </a:endParaRPr>
          </a:p>
          <a:p>
            <a:r>
              <a:rPr lang="en-US" sz="2000" b="1" dirty="0">
                <a:latin typeface="Aptos Display" panose="020B0004020202020204" pitchFamily="34" charset="0"/>
              </a:rPr>
              <a:t>Source:</a:t>
            </a:r>
            <a:r>
              <a:rPr lang="en-US" sz="2000" dirty="0">
                <a:latin typeface="Aptos Display" panose="020B0004020202020204" pitchFamily="34" charset="0"/>
              </a:rPr>
              <a:t> Kaggle</a:t>
            </a:r>
          </a:p>
          <a:p>
            <a:r>
              <a:rPr lang="en-US" sz="2000" b="1" dirty="0">
                <a:latin typeface="Aptos Display" panose="020B0004020202020204" pitchFamily="34" charset="0"/>
              </a:rPr>
              <a:t>Industry:</a:t>
            </a:r>
            <a:r>
              <a:rPr lang="en-US" sz="2000" dirty="0">
                <a:latin typeface="Aptos Display" panose="020B0004020202020204" pitchFamily="34" charset="0"/>
              </a:rPr>
              <a:t> Retail / E-commerce</a:t>
            </a:r>
          </a:p>
          <a:p>
            <a:r>
              <a:rPr lang="en-US" sz="2000" b="1" dirty="0">
                <a:latin typeface="Aptos Display" panose="020B0004020202020204" pitchFamily="34" charset="0"/>
              </a:rPr>
              <a:t>Purpose:</a:t>
            </a:r>
            <a:r>
              <a:rPr lang="en-US" sz="2000" dirty="0">
                <a:latin typeface="Aptos Display" panose="020B0004020202020204" pitchFamily="34" charset="0"/>
              </a:rPr>
              <a:t> Sales &amp; Business Performance Analysis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88A774-8C67-84B0-8D52-D7B5DCC4BB4E}"/>
              </a:ext>
            </a:extLst>
          </p:cNvPr>
          <p:cNvSpPr/>
          <p:nvPr/>
        </p:nvSpPr>
        <p:spPr>
          <a:xfrm>
            <a:off x="4767066" y="1586742"/>
            <a:ext cx="2657868" cy="3478589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50000"/>
              </a:schemeClr>
            </a:solidFill>
          </a:ln>
          <a:effectLst>
            <a:outerShdw blurRad="152400" dist="50800" dir="3000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dirty="0">
                <a:latin typeface="Aptos Display" panose="020B0004020202020204" pitchFamily="34" charset="0"/>
              </a:rPr>
              <a:t>📑 Tables</a:t>
            </a:r>
            <a:br>
              <a:rPr lang="en-US" sz="2000" dirty="0">
                <a:latin typeface="Aptos Display" panose="020B0004020202020204" pitchFamily="34" charset="0"/>
              </a:rPr>
            </a:br>
            <a:br>
              <a:rPr lang="en-US" sz="2000" dirty="0">
                <a:latin typeface="Aptos Display" panose="020B0004020202020204" pitchFamily="34" charset="0"/>
              </a:rPr>
            </a:br>
            <a:r>
              <a:rPr lang="en-US" sz="2000" dirty="0">
                <a:latin typeface="Aptos Display" panose="020B0004020202020204" pitchFamily="34" charset="0"/>
              </a:rPr>
              <a:t>Orders</a:t>
            </a:r>
            <a:br>
              <a:rPr lang="en-US" sz="2000" dirty="0">
                <a:latin typeface="Aptos Display" panose="020B0004020202020204" pitchFamily="34" charset="0"/>
              </a:rPr>
            </a:br>
            <a:r>
              <a:rPr lang="en-US" sz="2000" dirty="0">
                <a:latin typeface="Aptos Display" panose="020B0004020202020204" pitchFamily="34" charset="0"/>
              </a:rPr>
              <a:t>(Transaction Data)</a:t>
            </a:r>
            <a:br>
              <a:rPr lang="en-US" sz="2000" dirty="0">
                <a:latin typeface="Aptos Display" panose="020B0004020202020204" pitchFamily="34" charset="0"/>
              </a:rPr>
            </a:br>
            <a:br>
              <a:rPr lang="en-US" sz="2000" dirty="0">
                <a:latin typeface="Aptos Display" panose="020B0004020202020204" pitchFamily="34" charset="0"/>
              </a:rPr>
            </a:br>
            <a:r>
              <a:rPr lang="en-US" sz="2000" dirty="0">
                <a:latin typeface="Aptos Display" panose="020B0004020202020204" pitchFamily="34" charset="0"/>
              </a:rPr>
              <a:t>Returns</a:t>
            </a:r>
            <a:br>
              <a:rPr lang="en-US" sz="2000" dirty="0">
                <a:latin typeface="Aptos Display" panose="020B0004020202020204" pitchFamily="34" charset="0"/>
              </a:rPr>
            </a:br>
            <a:r>
              <a:rPr lang="en-US" sz="2000" dirty="0">
                <a:latin typeface="Aptos Display" panose="020B0004020202020204" pitchFamily="34" charset="0"/>
              </a:rPr>
              <a:t>(Return Status)</a:t>
            </a:r>
            <a:br>
              <a:rPr lang="en-US" sz="2000" dirty="0">
                <a:latin typeface="Aptos Display" panose="020B0004020202020204" pitchFamily="34" charset="0"/>
              </a:rPr>
            </a:br>
            <a:br>
              <a:rPr lang="en-US" sz="2000" dirty="0">
                <a:latin typeface="Aptos Display" panose="020B0004020202020204" pitchFamily="34" charset="0"/>
              </a:rPr>
            </a:br>
            <a:r>
              <a:rPr lang="en-US" sz="2000" dirty="0">
                <a:latin typeface="Aptos Display" panose="020B0004020202020204" pitchFamily="34" charset="0"/>
              </a:rPr>
              <a:t>People</a:t>
            </a:r>
            <a:br>
              <a:rPr lang="en-US" sz="2000" dirty="0">
                <a:latin typeface="Aptos Display" panose="020B0004020202020204" pitchFamily="34" charset="0"/>
              </a:rPr>
            </a:br>
            <a:r>
              <a:rPr lang="en-US" sz="2000" dirty="0">
                <a:latin typeface="Aptos Display" panose="020B0004020202020204" pitchFamily="34" charset="0"/>
              </a:rPr>
              <a:t>(Regional Managers)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7AD10B-262C-3991-FCCD-0FB461C11E00}"/>
              </a:ext>
            </a:extLst>
          </p:cNvPr>
          <p:cNvSpPr/>
          <p:nvPr/>
        </p:nvSpPr>
        <p:spPr>
          <a:xfrm>
            <a:off x="8800706" y="1586743"/>
            <a:ext cx="2657869" cy="3478589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50000"/>
              </a:schemeClr>
            </a:solidFill>
          </a:ln>
          <a:effectLst>
            <a:outerShdw blurRad="152400" dist="50800" dir="3000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dirty="0">
                <a:latin typeface="Aptos Narrow" panose="020B0004020202020204" pitchFamily="34" charset="0"/>
              </a:rPr>
              <a:t>🔑 Key Data Fields</a:t>
            </a:r>
          </a:p>
          <a:p>
            <a:r>
              <a:rPr lang="en-US" sz="2000" dirty="0">
                <a:latin typeface="Aptos Narrow" panose="020B0004020202020204" pitchFamily="34" charset="0"/>
              </a:rPr>
              <a:t>Customer </a:t>
            </a:r>
          </a:p>
          <a:p>
            <a:r>
              <a:rPr lang="en-US" sz="2000" dirty="0">
                <a:latin typeface="Aptos Narrow" panose="020B0004020202020204" pitchFamily="34" charset="0"/>
              </a:rPr>
              <a:t>Product </a:t>
            </a:r>
          </a:p>
          <a:p>
            <a:r>
              <a:rPr lang="en-US" sz="2000" dirty="0">
                <a:latin typeface="Aptos Narrow" panose="020B0004020202020204" pitchFamily="34" charset="0"/>
              </a:rPr>
              <a:t>Sales </a:t>
            </a:r>
          </a:p>
          <a:p>
            <a:r>
              <a:rPr lang="en-US" sz="2000" dirty="0">
                <a:latin typeface="Aptos Narrow" panose="020B0004020202020204" pitchFamily="34" charset="0"/>
              </a:rPr>
              <a:t>Profit </a:t>
            </a:r>
          </a:p>
          <a:p>
            <a:r>
              <a:rPr lang="en-US" sz="2000" dirty="0">
                <a:latin typeface="Aptos Narrow" panose="020B0004020202020204" pitchFamily="34" charset="0"/>
              </a:rPr>
              <a:t>Discount </a:t>
            </a:r>
          </a:p>
          <a:p>
            <a:r>
              <a:rPr lang="en-US" sz="2000" dirty="0">
                <a:latin typeface="Aptos Narrow" panose="020B0004020202020204" pitchFamily="34" charset="0"/>
              </a:rPr>
              <a:t>Quantity </a:t>
            </a:r>
          </a:p>
          <a:p>
            <a:r>
              <a:rPr lang="en-US" sz="2000" dirty="0">
                <a:latin typeface="Aptos Narrow" panose="020B0004020202020204" pitchFamily="34" charset="0"/>
              </a:rPr>
              <a:t>Order Date </a:t>
            </a:r>
          </a:p>
          <a:p>
            <a:r>
              <a:rPr lang="en-US" sz="2000" dirty="0">
                <a:latin typeface="Aptos Narrow" panose="020B0004020202020204" pitchFamily="34" charset="0"/>
              </a:rPr>
              <a:t>Ship Date </a:t>
            </a:r>
          </a:p>
          <a:p>
            <a:r>
              <a:rPr lang="en-US" sz="2000" dirty="0">
                <a:latin typeface="Aptos Narrow" panose="020B0004020202020204" pitchFamily="34" charset="0"/>
              </a:rPr>
              <a:t>Region </a:t>
            </a:r>
          </a:p>
          <a:p>
            <a:r>
              <a:rPr lang="en-US" sz="2000" dirty="0">
                <a:latin typeface="Aptos Narrow" panose="020B0004020202020204" pitchFamily="34" charset="0"/>
              </a:rPr>
              <a:t>Market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24870F-5881-75CF-5E01-617CE01CEE03}"/>
              </a:ext>
            </a:extLst>
          </p:cNvPr>
          <p:cNvSpPr txBox="1"/>
          <p:nvPr/>
        </p:nvSpPr>
        <p:spPr>
          <a:xfrm>
            <a:off x="652069" y="186809"/>
            <a:ext cx="107112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DATASET UNDERSTANDING</a:t>
            </a:r>
            <a:br>
              <a:rPr lang="en-US" sz="3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</a:br>
            <a:r>
              <a:rPr lang="en-US" sz="3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Global Superstore Dataset (Kaggle)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F707C8-00AE-B270-955A-893421F3535F}"/>
              </a:ext>
            </a:extLst>
          </p:cNvPr>
          <p:cNvSpPr txBox="1"/>
          <p:nvPr/>
        </p:nvSpPr>
        <p:spPr>
          <a:xfrm>
            <a:off x="476250" y="5835134"/>
            <a:ext cx="11239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Aptos Display" panose="020B0004020202020204" pitchFamily="34" charset="0"/>
              </a:rPr>
              <a:t>⭐ Relational Dataset (Star Schema)</a:t>
            </a:r>
          </a:p>
        </p:txBody>
      </p:sp>
    </p:spTree>
    <p:extLst>
      <p:ext uri="{BB962C8B-B14F-4D97-AF65-F5344CB8AC3E}">
        <p14:creationId xmlns:p14="http://schemas.microsoft.com/office/powerpoint/2010/main" val="774790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32406F1-CABB-5EDF-DC59-D63B7E7E94CF}"/>
              </a:ext>
            </a:extLst>
          </p:cNvPr>
          <p:cNvSpPr/>
          <p:nvPr/>
        </p:nvSpPr>
        <p:spPr>
          <a:xfrm>
            <a:off x="122146" y="1517795"/>
            <a:ext cx="1899312" cy="4289723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ptos Display" panose="020B0004020202020204" pitchFamily="34" charset="0"/>
              </a:rPr>
              <a:t>Raw Dataset</a:t>
            </a:r>
            <a:b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</a:br>
            <a:b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Orders</a:t>
            </a:r>
            <a:b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</a:br>
            <a:b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Returns</a:t>
            </a:r>
            <a:b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</a:br>
            <a:b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People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FD51604-1287-163D-7EA1-CDBA720F5AC7}"/>
              </a:ext>
            </a:extLst>
          </p:cNvPr>
          <p:cNvSpPr/>
          <p:nvPr/>
        </p:nvSpPr>
        <p:spPr>
          <a:xfrm>
            <a:off x="2066009" y="1530577"/>
            <a:ext cx="1899311" cy="4289723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ptos Display" panose="020B0004020202020204" pitchFamily="34" charset="0"/>
              </a:rPr>
              <a:t>Excel</a:t>
            </a:r>
            <a:b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</a:br>
            <a:b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Cleaning</a:t>
            </a:r>
            <a:b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</a:br>
            <a:b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Feature Engineering</a:t>
            </a:r>
            <a:b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</a:br>
            <a:b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Validation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FEF821F-2738-5AB4-4109-C3E8AFD68A34}"/>
              </a:ext>
            </a:extLst>
          </p:cNvPr>
          <p:cNvSpPr/>
          <p:nvPr/>
        </p:nvSpPr>
        <p:spPr>
          <a:xfrm>
            <a:off x="3996962" y="1520050"/>
            <a:ext cx="1937112" cy="4300250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ptos Display" panose="020B0004020202020204" pitchFamily="34" charset="0"/>
              </a:rPr>
              <a:t>SQL</a:t>
            </a:r>
            <a:b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</a:br>
            <a:b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30 Queries</a:t>
            </a:r>
            <a:b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</a:br>
            <a:b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KPIs</a:t>
            </a:r>
            <a:b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</a:br>
            <a:b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Analysis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029AEB7-5C5C-1758-DFEE-281F4A2BD277}"/>
              </a:ext>
            </a:extLst>
          </p:cNvPr>
          <p:cNvSpPr/>
          <p:nvPr/>
        </p:nvSpPr>
        <p:spPr>
          <a:xfrm>
            <a:off x="5965717" y="1530577"/>
            <a:ext cx="1943862" cy="4289723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ptos Display" panose="020B0004020202020204" pitchFamily="34" charset="0"/>
              </a:rPr>
              <a:t>Power BI</a:t>
            </a:r>
            <a:b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</a:br>
            <a:b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DAX</a:t>
            </a:r>
            <a:b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</a:br>
            <a:b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Modelling</a:t>
            </a:r>
            <a:b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</a:br>
            <a:b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Dashboards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C9BDFCC-4F83-9294-A3EC-557754E23D24}"/>
              </a:ext>
            </a:extLst>
          </p:cNvPr>
          <p:cNvSpPr/>
          <p:nvPr/>
        </p:nvSpPr>
        <p:spPr>
          <a:xfrm>
            <a:off x="7941223" y="1530577"/>
            <a:ext cx="1943862" cy="4279195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ptos Display" panose="020B0004020202020204" pitchFamily="34" charset="0"/>
              </a:rPr>
              <a:t>Insights</a:t>
            </a:r>
            <a:br>
              <a:rPr lang="en-US" sz="2000" dirty="0">
                <a:solidFill>
                  <a:schemeClr val="bg1"/>
                </a:solidFill>
                <a:latin typeface="Aptos Display" panose="020B0004020202020204" pitchFamily="34" charset="0"/>
              </a:rPr>
            </a:br>
            <a:br>
              <a:rPr lang="en-US" sz="2000" dirty="0">
                <a:solidFill>
                  <a:schemeClr val="bg1"/>
                </a:solidFill>
                <a:latin typeface="Aptos Display" panose="020B000402020202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Sales</a:t>
            </a:r>
            <a:b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</a:br>
            <a:b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Customers</a:t>
            </a:r>
            <a:b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</a:br>
            <a:b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Products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3446A31-B683-E31E-C135-BB636E37ABFF}"/>
              </a:ext>
            </a:extLst>
          </p:cNvPr>
          <p:cNvSpPr/>
          <p:nvPr/>
        </p:nvSpPr>
        <p:spPr>
          <a:xfrm>
            <a:off x="9909976" y="1520049"/>
            <a:ext cx="2159877" cy="4279195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ptos Display" panose="020B0004020202020204" pitchFamily="34" charset="0"/>
              </a:rPr>
              <a:t>Recommendation</a:t>
            </a:r>
            <a:b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</a:br>
            <a:b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Profit</a:t>
            </a:r>
            <a:b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</a:br>
            <a:b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Returns</a:t>
            </a:r>
            <a:b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</a:br>
            <a:b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Operations</a:t>
            </a:r>
          </a:p>
        </p:txBody>
      </p:sp>
      <p:pic>
        <p:nvPicPr>
          <p:cNvPr id="13" name="Graphic 12" descr="Database">
            <a:extLst>
              <a:ext uri="{FF2B5EF4-FFF2-40B4-BE49-F238E27FC236}">
                <a16:creationId xmlns:a16="http://schemas.microsoft.com/office/drawing/2014/main" id="{EBE583B6-244F-CBE6-F111-DD6A7C3BD0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3856" y="2065293"/>
            <a:ext cx="343910" cy="343910"/>
          </a:xfrm>
          <a:prstGeom prst="rect">
            <a:avLst/>
          </a:prstGeom>
        </p:spPr>
      </p:pic>
      <p:pic>
        <p:nvPicPr>
          <p:cNvPr id="15" name="Graphic 14" descr="Table">
            <a:extLst>
              <a:ext uri="{FF2B5EF4-FFF2-40B4-BE49-F238E27FC236}">
                <a16:creationId xmlns:a16="http://schemas.microsoft.com/office/drawing/2014/main" id="{5B3E1943-B0BF-0DB5-AF2A-4E975040EE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00533" y="2065293"/>
            <a:ext cx="293179" cy="293179"/>
          </a:xfrm>
          <a:prstGeom prst="rect">
            <a:avLst/>
          </a:prstGeom>
        </p:spPr>
      </p:pic>
      <p:pic>
        <p:nvPicPr>
          <p:cNvPr id="17" name="Graphic 16" descr="Server">
            <a:extLst>
              <a:ext uri="{FF2B5EF4-FFF2-40B4-BE49-F238E27FC236}">
                <a16:creationId xmlns:a16="http://schemas.microsoft.com/office/drawing/2014/main" id="{1C58865B-9A58-781D-FE5D-F41925AA3A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0214" y="2078593"/>
            <a:ext cx="330610" cy="330610"/>
          </a:xfrm>
          <a:prstGeom prst="rect">
            <a:avLst/>
          </a:prstGeom>
        </p:spPr>
      </p:pic>
      <p:pic>
        <p:nvPicPr>
          <p:cNvPr id="19" name="Graphic 18" descr="Bar chart">
            <a:extLst>
              <a:ext uri="{FF2B5EF4-FFF2-40B4-BE49-F238E27FC236}">
                <a16:creationId xmlns:a16="http://schemas.microsoft.com/office/drawing/2014/main" id="{AFC290BA-FE28-B815-C2C6-F9B06B2555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37326" y="2029091"/>
            <a:ext cx="329381" cy="329381"/>
          </a:xfrm>
          <a:prstGeom prst="rect">
            <a:avLst/>
          </a:prstGeom>
        </p:spPr>
      </p:pic>
      <p:pic>
        <p:nvPicPr>
          <p:cNvPr id="21" name="Graphic 20" descr="Lightbulb and gear">
            <a:extLst>
              <a:ext uri="{FF2B5EF4-FFF2-40B4-BE49-F238E27FC236}">
                <a16:creationId xmlns:a16="http://schemas.microsoft.com/office/drawing/2014/main" id="{846C5EAA-F682-1722-682C-A5B3471802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26491" y="1985146"/>
            <a:ext cx="373326" cy="373326"/>
          </a:xfrm>
          <a:prstGeom prst="rect">
            <a:avLst/>
          </a:prstGeom>
        </p:spPr>
      </p:pic>
      <p:pic>
        <p:nvPicPr>
          <p:cNvPr id="23" name="Graphic 22" descr="Bullseye">
            <a:extLst>
              <a:ext uri="{FF2B5EF4-FFF2-40B4-BE49-F238E27FC236}">
                <a16:creationId xmlns:a16="http://schemas.microsoft.com/office/drawing/2014/main" id="{D4018D0E-1B0F-83AC-DE41-CA2FB607EC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22834" y="2024312"/>
            <a:ext cx="334160" cy="3341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D07A37E-CB4A-3E6F-89AD-20F24915C39B}"/>
              </a:ext>
            </a:extLst>
          </p:cNvPr>
          <p:cNvSpPr txBox="1"/>
          <p:nvPr/>
        </p:nvSpPr>
        <p:spPr>
          <a:xfrm>
            <a:off x="309563" y="325959"/>
            <a:ext cx="115728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END-TO-END ANALYTICS WORKFLOW</a:t>
            </a:r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696410C4-CCF3-ABD9-E6B0-D99DC3D841F7}"/>
              </a:ext>
            </a:extLst>
          </p:cNvPr>
          <p:cNvSpPr/>
          <p:nvPr/>
        </p:nvSpPr>
        <p:spPr>
          <a:xfrm>
            <a:off x="566407" y="3375559"/>
            <a:ext cx="77889" cy="8849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3B9F7347-4E00-133E-8619-38271BC0D9AB}"/>
              </a:ext>
            </a:extLst>
          </p:cNvPr>
          <p:cNvSpPr/>
          <p:nvPr/>
        </p:nvSpPr>
        <p:spPr>
          <a:xfrm>
            <a:off x="529010" y="3895881"/>
            <a:ext cx="77889" cy="8849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C2E11AAC-A7BC-6992-9584-1D673CF5B71D}"/>
              </a:ext>
            </a:extLst>
          </p:cNvPr>
          <p:cNvSpPr/>
          <p:nvPr/>
        </p:nvSpPr>
        <p:spPr>
          <a:xfrm>
            <a:off x="563817" y="4460448"/>
            <a:ext cx="77889" cy="8849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BC502395-79EF-F617-D19D-14297B8FF0C5}"/>
              </a:ext>
            </a:extLst>
          </p:cNvPr>
          <p:cNvSpPr/>
          <p:nvPr/>
        </p:nvSpPr>
        <p:spPr>
          <a:xfrm>
            <a:off x="1652011" y="3516824"/>
            <a:ext cx="727958" cy="346587"/>
          </a:xfrm>
          <a:prstGeom prst="rightArrow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7422FADA-960D-A1FA-1FDC-8082D2A7104E}"/>
              </a:ext>
            </a:extLst>
          </p:cNvPr>
          <p:cNvSpPr/>
          <p:nvPr/>
        </p:nvSpPr>
        <p:spPr>
          <a:xfrm>
            <a:off x="3689250" y="3516824"/>
            <a:ext cx="727958" cy="346587"/>
          </a:xfrm>
          <a:prstGeom prst="rightArrow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3D7FF5D7-B976-0B69-7A07-009AC172C726}"/>
              </a:ext>
            </a:extLst>
          </p:cNvPr>
          <p:cNvSpPr/>
          <p:nvPr/>
        </p:nvSpPr>
        <p:spPr>
          <a:xfrm>
            <a:off x="5620203" y="3516544"/>
            <a:ext cx="727958" cy="346587"/>
          </a:xfrm>
          <a:prstGeom prst="rightArrow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9BF3ACC6-E7D8-9611-9C44-1E558D6B18C6}"/>
              </a:ext>
            </a:extLst>
          </p:cNvPr>
          <p:cNvSpPr/>
          <p:nvPr/>
        </p:nvSpPr>
        <p:spPr>
          <a:xfrm>
            <a:off x="7667793" y="3516544"/>
            <a:ext cx="727958" cy="346587"/>
          </a:xfrm>
          <a:prstGeom prst="rightArrow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3CA75DF3-1988-11C5-8361-14AA5B4E179C}"/>
              </a:ext>
            </a:extLst>
          </p:cNvPr>
          <p:cNvSpPr/>
          <p:nvPr/>
        </p:nvSpPr>
        <p:spPr>
          <a:xfrm>
            <a:off x="9668190" y="3510398"/>
            <a:ext cx="727958" cy="346587"/>
          </a:xfrm>
          <a:prstGeom prst="rightArrow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lowchart: Connector 52">
            <a:extLst>
              <a:ext uri="{FF2B5EF4-FFF2-40B4-BE49-F238E27FC236}">
                <a16:creationId xmlns:a16="http://schemas.microsoft.com/office/drawing/2014/main" id="{02D01F93-2CA1-3509-A716-CF4300C3D021}"/>
              </a:ext>
            </a:extLst>
          </p:cNvPr>
          <p:cNvSpPr/>
          <p:nvPr/>
        </p:nvSpPr>
        <p:spPr>
          <a:xfrm>
            <a:off x="6189627" y="4460448"/>
            <a:ext cx="77889" cy="8849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lowchart: Connector 54">
            <a:extLst>
              <a:ext uri="{FF2B5EF4-FFF2-40B4-BE49-F238E27FC236}">
                <a16:creationId xmlns:a16="http://schemas.microsoft.com/office/drawing/2014/main" id="{24848C84-964B-8D02-CD7D-65CF8833DE3E}"/>
              </a:ext>
            </a:extLst>
          </p:cNvPr>
          <p:cNvSpPr/>
          <p:nvPr/>
        </p:nvSpPr>
        <p:spPr>
          <a:xfrm>
            <a:off x="6313908" y="3905865"/>
            <a:ext cx="77889" cy="8849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lowchart: Connector 56">
            <a:extLst>
              <a:ext uri="{FF2B5EF4-FFF2-40B4-BE49-F238E27FC236}">
                <a16:creationId xmlns:a16="http://schemas.microsoft.com/office/drawing/2014/main" id="{273F8855-C11C-848E-B7AA-2A50AA4D927F}"/>
              </a:ext>
            </a:extLst>
          </p:cNvPr>
          <p:cNvSpPr/>
          <p:nvPr/>
        </p:nvSpPr>
        <p:spPr>
          <a:xfrm>
            <a:off x="6521995" y="3384755"/>
            <a:ext cx="77889" cy="8849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lowchart: Connector 58">
            <a:extLst>
              <a:ext uri="{FF2B5EF4-FFF2-40B4-BE49-F238E27FC236}">
                <a16:creationId xmlns:a16="http://schemas.microsoft.com/office/drawing/2014/main" id="{B8FF80B2-4A91-7B9A-6A94-4AAF2BDA96FD}"/>
              </a:ext>
            </a:extLst>
          </p:cNvPr>
          <p:cNvSpPr/>
          <p:nvPr/>
        </p:nvSpPr>
        <p:spPr>
          <a:xfrm>
            <a:off x="8296714" y="4460448"/>
            <a:ext cx="77889" cy="8849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lowchart: Connector 60">
            <a:extLst>
              <a:ext uri="{FF2B5EF4-FFF2-40B4-BE49-F238E27FC236}">
                <a16:creationId xmlns:a16="http://schemas.microsoft.com/office/drawing/2014/main" id="{B0571477-B873-B708-CE23-4C4880F53AFC}"/>
              </a:ext>
            </a:extLst>
          </p:cNvPr>
          <p:cNvSpPr/>
          <p:nvPr/>
        </p:nvSpPr>
        <p:spPr>
          <a:xfrm>
            <a:off x="8257770" y="3950110"/>
            <a:ext cx="77889" cy="8849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lowchart: Connector 62">
            <a:extLst>
              <a:ext uri="{FF2B5EF4-FFF2-40B4-BE49-F238E27FC236}">
                <a16:creationId xmlns:a16="http://schemas.microsoft.com/office/drawing/2014/main" id="{557B3F3A-2457-F408-7713-74E0B51AC100}"/>
              </a:ext>
            </a:extLst>
          </p:cNvPr>
          <p:cNvSpPr/>
          <p:nvPr/>
        </p:nvSpPr>
        <p:spPr>
          <a:xfrm>
            <a:off x="8408854" y="3384755"/>
            <a:ext cx="77889" cy="8849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lowchart: Connector 64">
            <a:extLst>
              <a:ext uri="{FF2B5EF4-FFF2-40B4-BE49-F238E27FC236}">
                <a16:creationId xmlns:a16="http://schemas.microsoft.com/office/drawing/2014/main" id="{5497E8DB-2915-9E1E-F474-2B17D0C4C2BE}"/>
              </a:ext>
            </a:extLst>
          </p:cNvPr>
          <p:cNvSpPr/>
          <p:nvPr/>
        </p:nvSpPr>
        <p:spPr>
          <a:xfrm>
            <a:off x="10318257" y="4460448"/>
            <a:ext cx="77889" cy="8849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lowchart: Connector 66">
            <a:extLst>
              <a:ext uri="{FF2B5EF4-FFF2-40B4-BE49-F238E27FC236}">
                <a16:creationId xmlns:a16="http://schemas.microsoft.com/office/drawing/2014/main" id="{7932F99E-8C7E-4FA6-4F36-63FC885E5DA4}"/>
              </a:ext>
            </a:extLst>
          </p:cNvPr>
          <p:cNvSpPr/>
          <p:nvPr/>
        </p:nvSpPr>
        <p:spPr>
          <a:xfrm>
            <a:off x="10420029" y="3895881"/>
            <a:ext cx="77889" cy="8849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Flowchart: Connector 68">
            <a:extLst>
              <a:ext uri="{FF2B5EF4-FFF2-40B4-BE49-F238E27FC236}">
                <a16:creationId xmlns:a16="http://schemas.microsoft.com/office/drawing/2014/main" id="{8C2D6392-A4A2-56AB-8169-410B600F0E30}"/>
              </a:ext>
            </a:extLst>
          </p:cNvPr>
          <p:cNvSpPr/>
          <p:nvPr/>
        </p:nvSpPr>
        <p:spPr>
          <a:xfrm>
            <a:off x="10558977" y="3347733"/>
            <a:ext cx="77889" cy="8849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Flowchart: Connector 70">
            <a:extLst>
              <a:ext uri="{FF2B5EF4-FFF2-40B4-BE49-F238E27FC236}">
                <a16:creationId xmlns:a16="http://schemas.microsoft.com/office/drawing/2014/main" id="{7E815871-BE77-90F4-1A86-344833E631D7}"/>
              </a:ext>
            </a:extLst>
          </p:cNvPr>
          <p:cNvSpPr/>
          <p:nvPr/>
        </p:nvSpPr>
        <p:spPr>
          <a:xfrm>
            <a:off x="2428233" y="3227518"/>
            <a:ext cx="77889" cy="8849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Flowchart: Connector 72">
            <a:extLst>
              <a:ext uri="{FF2B5EF4-FFF2-40B4-BE49-F238E27FC236}">
                <a16:creationId xmlns:a16="http://schemas.microsoft.com/office/drawing/2014/main" id="{85C18B2D-09AE-1545-9535-0D1C9A9208B7}"/>
              </a:ext>
            </a:extLst>
          </p:cNvPr>
          <p:cNvSpPr/>
          <p:nvPr/>
        </p:nvSpPr>
        <p:spPr>
          <a:xfrm>
            <a:off x="2506122" y="3768495"/>
            <a:ext cx="77889" cy="8849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Flowchart: Connector 74">
            <a:extLst>
              <a:ext uri="{FF2B5EF4-FFF2-40B4-BE49-F238E27FC236}">
                <a16:creationId xmlns:a16="http://schemas.microsoft.com/office/drawing/2014/main" id="{03BCB4AF-BA76-1872-E66F-B99487D4223B}"/>
              </a:ext>
            </a:extLst>
          </p:cNvPr>
          <p:cNvSpPr/>
          <p:nvPr/>
        </p:nvSpPr>
        <p:spPr>
          <a:xfrm>
            <a:off x="2383896" y="4614367"/>
            <a:ext cx="77889" cy="8849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Flowchart: Connector 76">
            <a:extLst>
              <a:ext uri="{FF2B5EF4-FFF2-40B4-BE49-F238E27FC236}">
                <a16:creationId xmlns:a16="http://schemas.microsoft.com/office/drawing/2014/main" id="{DE228B77-95E6-2C61-2F11-9826E00A205E}"/>
              </a:ext>
            </a:extLst>
          </p:cNvPr>
          <p:cNvSpPr/>
          <p:nvPr/>
        </p:nvSpPr>
        <p:spPr>
          <a:xfrm>
            <a:off x="4416290" y="4460448"/>
            <a:ext cx="77889" cy="8849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lowchart: Connector 78">
            <a:extLst>
              <a:ext uri="{FF2B5EF4-FFF2-40B4-BE49-F238E27FC236}">
                <a16:creationId xmlns:a16="http://schemas.microsoft.com/office/drawing/2014/main" id="{2DB21B29-35F5-AF23-C589-F62AA2133633}"/>
              </a:ext>
            </a:extLst>
          </p:cNvPr>
          <p:cNvSpPr/>
          <p:nvPr/>
        </p:nvSpPr>
        <p:spPr>
          <a:xfrm>
            <a:off x="4582801" y="3905865"/>
            <a:ext cx="77889" cy="8849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lowchart: Connector 80">
            <a:extLst>
              <a:ext uri="{FF2B5EF4-FFF2-40B4-BE49-F238E27FC236}">
                <a16:creationId xmlns:a16="http://schemas.microsoft.com/office/drawing/2014/main" id="{41BBE8D0-2984-48D8-85CF-7AE1B436C490}"/>
              </a:ext>
            </a:extLst>
          </p:cNvPr>
          <p:cNvSpPr/>
          <p:nvPr/>
        </p:nvSpPr>
        <p:spPr>
          <a:xfrm>
            <a:off x="4310105" y="3375559"/>
            <a:ext cx="77889" cy="8849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37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9F0BD9-46F8-D689-7B7F-FE6EB15D48A7}"/>
              </a:ext>
            </a:extLst>
          </p:cNvPr>
          <p:cNvSpPr txBox="1"/>
          <p:nvPr/>
        </p:nvSpPr>
        <p:spPr>
          <a:xfrm>
            <a:off x="427088" y="158614"/>
            <a:ext cx="112087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CLEANING &amp; FEATURE ENGINEERING</a:t>
            </a:r>
            <a:br>
              <a:rPr lang="en-US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6E7FC8-9E19-BD83-6E4E-0908C32DD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355" y="1612491"/>
            <a:ext cx="5968180" cy="47686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112910-6D92-A770-427A-638CC3F29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465" y="1612490"/>
            <a:ext cx="5417574" cy="476864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0641A53-DB24-49A4-66C5-D0B0A3081BC4}"/>
              </a:ext>
            </a:extLst>
          </p:cNvPr>
          <p:cNvSpPr txBox="1"/>
          <p:nvPr/>
        </p:nvSpPr>
        <p:spPr>
          <a:xfrm>
            <a:off x="2054942" y="1162551"/>
            <a:ext cx="22614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ptos Display" panose="020B0004020202020204" pitchFamily="34" charset="0"/>
              </a:rPr>
              <a:t>🔴 </a:t>
            </a:r>
            <a:r>
              <a:rPr lang="en-US" sz="2000" b="1" dirty="0">
                <a:latin typeface="Aptos Display" panose="020B0004020202020204" pitchFamily="34" charset="0"/>
              </a:rPr>
              <a:t>Raw Dataset</a:t>
            </a:r>
            <a:endParaRPr lang="en-US" sz="2000" dirty="0">
              <a:latin typeface="Aptos Display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892AA3-1CA9-68B7-9B09-09C84627A97D}"/>
              </a:ext>
            </a:extLst>
          </p:cNvPr>
          <p:cNvSpPr txBox="1"/>
          <p:nvPr/>
        </p:nvSpPr>
        <p:spPr>
          <a:xfrm>
            <a:off x="7650725" y="1177940"/>
            <a:ext cx="36268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ptos Display" panose="020B0004020202020204" pitchFamily="34" charset="0"/>
              </a:rPr>
              <a:t>🟢 </a:t>
            </a:r>
            <a:r>
              <a:rPr lang="en-US" sz="2000" b="1" dirty="0">
                <a:latin typeface="Aptos Display" panose="020B0004020202020204" pitchFamily="34" charset="0"/>
              </a:rPr>
              <a:t>Cleaned Dataset</a:t>
            </a:r>
            <a:endParaRPr lang="en-US" sz="20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0237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81395B0-9814-526C-8B6D-0CEEF0F60105}"/>
              </a:ext>
            </a:extLst>
          </p:cNvPr>
          <p:cNvSpPr/>
          <p:nvPr/>
        </p:nvSpPr>
        <p:spPr>
          <a:xfrm>
            <a:off x="1885948" y="590550"/>
            <a:ext cx="3257552" cy="2676525"/>
          </a:xfrm>
          <a:prstGeom prst="roundRect">
            <a:avLst/>
          </a:prstGeom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>
                <a:latin typeface="Aptos Display" panose="020B0004020202020204" pitchFamily="34" charset="0"/>
              </a:rPr>
              <a:t>🧹 </a:t>
            </a:r>
            <a:r>
              <a:rPr lang="en-US" sz="2000" b="1" dirty="0">
                <a:latin typeface="Aptos Display" panose="020B0004020202020204" pitchFamily="34" charset="0"/>
              </a:rPr>
              <a:t>Data Cleaning</a:t>
            </a:r>
            <a:br>
              <a:rPr lang="en-US" sz="2000" b="1" dirty="0">
                <a:latin typeface="Aptos Display" panose="020B0004020202020204" pitchFamily="34" charset="0"/>
              </a:rPr>
            </a:br>
            <a:endParaRPr lang="en-US" sz="2000" dirty="0">
              <a:latin typeface="Aptos Display" panose="020B0004020202020204" pitchFamily="34" charset="0"/>
            </a:endParaRPr>
          </a:p>
          <a:p>
            <a:r>
              <a:rPr lang="en-US" sz="2000" dirty="0">
                <a:latin typeface="Aptos Display" panose="020B0004020202020204" pitchFamily="34" charset="0"/>
              </a:rPr>
              <a:t>Fixed date formats </a:t>
            </a:r>
          </a:p>
          <a:p>
            <a:r>
              <a:rPr lang="en-US" sz="2000" dirty="0">
                <a:latin typeface="Aptos Display" panose="020B0004020202020204" pitchFamily="34" charset="0"/>
              </a:rPr>
              <a:t>Removed inconsistencies </a:t>
            </a:r>
          </a:p>
          <a:p>
            <a:r>
              <a:rPr lang="en-US" sz="2000" dirty="0">
                <a:latin typeface="Aptos Display" panose="020B0004020202020204" pitchFamily="34" charset="0"/>
              </a:rPr>
              <a:t>Validated data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3FA3A15-AF74-5AEB-E3E1-0B3AEA53BC71}"/>
              </a:ext>
            </a:extLst>
          </p:cNvPr>
          <p:cNvSpPr/>
          <p:nvPr/>
        </p:nvSpPr>
        <p:spPr>
          <a:xfrm>
            <a:off x="1885948" y="3590925"/>
            <a:ext cx="3257552" cy="2676525"/>
          </a:xfrm>
          <a:prstGeom prst="roundRect">
            <a:avLst/>
          </a:prstGeom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>
                <a:latin typeface="Aptos Display" panose="020B0004020202020204" pitchFamily="34" charset="0"/>
              </a:rPr>
              <a:t>🔗 </a:t>
            </a:r>
            <a:r>
              <a:rPr lang="en-US" sz="2000" b="1" dirty="0">
                <a:latin typeface="Aptos Display" panose="020B0004020202020204" pitchFamily="34" charset="0"/>
              </a:rPr>
              <a:t>Data Integration</a:t>
            </a:r>
            <a:br>
              <a:rPr lang="en-US" sz="2000" b="1" dirty="0">
                <a:latin typeface="Aptos Display" panose="020B0004020202020204" pitchFamily="34" charset="0"/>
              </a:rPr>
            </a:br>
            <a:endParaRPr lang="en-US" sz="2000" dirty="0">
              <a:latin typeface="Aptos Display" panose="020B0004020202020204" pitchFamily="34" charset="0"/>
            </a:endParaRPr>
          </a:p>
          <a:p>
            <a:r>
              <a:rPr lang="en-US" sz="2000" dirty="0">
                <a:latin typeface="Aptos Display" panose="020B0004020202020204" pitchFamily="34" charset="0"/>
              </a:rPr>
              <a:t>VLOOKUP (Returns) </a:t>
            </a:r>
          </a:p>
          <a:p>
            <a:r>
              <a:rPr lang="en-US" sz="2000" dirty="0">
                <a:latin typeface="Aptos Display" panose="020B0004020202020204" pitchFamily="34" charset="0"/>
              </a:rPr>
              <a:t>VLOOKUP (People)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DF38C0D-9862-045C-CA92-56DF800693F0}"/>
              </a:ext>
            </a:extLst>
          </p:cNvPr>
          <p:cNvSpPr/>
          <p:nvPr/>
        </p:nvSpPr>
        <p:spPr>
          <a:xfrm>
            <a:off x="6753227" y="3590924"/>
            <a:ext cx="3257552" cy="2676525"/>
          </a:xfrm>
          <a:prstGeom prst="roundRect">
            <a:avLst/>
          </a:prstGeom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>
                <a:latin typeface="Aptos Display" panose="020B0004020202020204" pitchFamily="34" charset="0"/>
              </a:rPr>
              <a:t>✅ </a:t>
            </a:r>
            <a:r>
              <a:rPr lang="en-US" sz="2000" b="1" dirty="0">
                <a:latin typeface="Aptos Display" panose="020B0004020202020204" pitchFamily="34" charset="0"/>
              </a:rPr>
              <a:t>Data Quality</a:t>
            </a:r>
            <a:br>
              <a:rPr lang="en-US" sz="2000" b="1" dirty="0">
                <a:latin typeface="Aptos Display" panose="020B0004020202020204" pitchFamily="34" charset="0"/>
              </a:rPr>
            </a:br>
            <a:endParaRPr lang="en-US" sz="2000" dirty="0">
              <a:latin typeface="Aptos Display" panose="020B0004020202020204" pitchFamily="34" charset="0"/>
            </a:endParaRPr>
          </a:p>
          <a:p>
            <a:r>
              <a:rPr lang="en-US" sz="2000" dirty="0">
                <a:latin typeface="Aptos Display" panose="020B0004020202020204" pitchFamily="34" charset="0"/>
              </a:rPr>
              <a:t>28% Postal Codes Missing </a:t>
            </a:r>
          </a:p>
          <a:p>
            <a:r>
              <a:rPr lang="en-US" sz="2000" dirty="0">
                <a:latin typeface="Aptos Display" panose="020B0004020202020204" pitchFamily="34" charset="0"/>
              </a:rPr>
              <a:t>Flagged for analysis </a:t>
            </a:r>
          </a:p>
          <a:p>
            <a:r>
              <a:rPr lang="en-US" sz="2000" dirty="0">
                <a:latin typeface="Aptos Display" panose="020B0004020202020204" pitchFamily="34" charset="0"/>
              </a:rPr>
              <a:t>City/Region used instead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41FB7FA-C6E7-E385-36D1-2F9F72434291}"/>
              </a:ext>
            </a:extLst>
          </p:cNvPr>
          <p:cNvSpPr/>
          <p:nvPr/>
        </p:nvSpPr>
        <p:spPr>
          <a:xfrm>
            <a:off x="6753227" y="590550"/>
            <a:ext cx="3257552" cy="2676525"/>
          </a:xfrm>
          <a:prstGeom prst="roundRect">
            <a:avLst/>
          </a:prstGeom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>
                <a:latin typeface="Aptos Display" panose="020B0004020202020204" pitchFamily="34" charset="0"/>
              </a:rPr>
              <a:t>⚙️ </a:t>
            </a:r>
            <a:r>
              <a:rPr lang="en-US" sz="2000" b="1" dirty="0">
                <a:latin typeface="Aptos Display" panose="020B0004020202020204" pitchFamily="34" charset="0"/>
              </a:rPr>
              <a:t>Feature Engineering</a:t>
            </a:r>
            <a:br>
              <a:rPr lang="en-US" sz="2000" b="1" dirty="0">
                <a:latin typeface="Aptos Display" panose="020B0004020202020204" pitchFamily="34" charset="0"/>
              </a:rPr>
            </a:br>
            <a:endParaRPr lang="en-US" sz="2000" dirty="0">
              <a:latin typeface="Aptos Display" panose="020B0004020202020204" pitchFamily="34" charset="0"/>
            </a:endParaRPr>
          </a:p>
          <a:p>
            <a:r>
              <a:rPr lang="en-US" sz="2000" dirty="0">
                <a:latin typeface="Aptos Display" panose="020B0004020202020204" pitchFamily="34" charset="0"/>
              </a:rPr>
              <a:t>Processing Time </a:t>
            </a:r>
          </a:p>
          <a:p>
            <a:r>
              <a:rPr lang="en-US" sz="2000" dirty="0">
                <a:latin typeface="Aptos Display" panose="020B0004020202020204" pitchFamily="34" charset="0"/>
              </a:rPr>
              <a:t>Profit Margin % </a:t>
            </a:r>
          </a:p>
          <a:p>
            <a:r>
              <a:rPr lang="en-US" sz="2000" dirty="0">
                <a:latin typeface="Aptos Display" panose="020B0004020202020204" pitchFamily="34" charset="0"/>
              </a:rPr>
              <a:t>Profit Status </a:t>
            </a:r>
          </a:p>
          <a:p>
            <a:r>
              <a:rPr lang="en-US" sz="2000" dirty="0">
                <a:latin typeface="Aptos Display" panose="020B0004020202020204" pitchFamily="34" charset="0"/>
              </a:rPr>
              <a:t>Order Year &amp; Quarter</a:t>
            </a:r>
          </a:p>
        </p:txBody>
      </p:sp>
    </p:spTree>
    <p:extLst>
      <p:ext uri="{BB962C8B-B14F-4D97-AF65-F5344CB8AC3E}">
        <p14:creationId xmlns:p14="http://schemas.microsoft.com/office/powerpoint/2010/main" val="2805379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BC7439-E47D-AEDD-619D-74BC0F697060}"/>
              </a:ext>
            </a:extLst>
          </p:cNvPr>
          <p:cNvSpPr txBox="1"/>
          <p:nvPr/>
        </p:nvSpPr>
        <p:spPr>
          <a:xfrm>
            <a:off x="472236" y="158234"/>
            <a:ext cx="11453063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🗄 SQL Business Analysis</a:t>
            </a:r>
            <a:br>
              <a:rPr lang="en-US" sz="3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</a:br>
            <a:r>
              <a:rPr lang="en-US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Transforming data into actionable business insights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0C266C-98A2-00FB-14C8-6D8620958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361" y="1450896"/>
            <a:ext cx="4827639" cy="38551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76C7FD-46AC-FAA2-1045-348DEC28C7C1}"/>
              </a:ext>
            </a:extLst>
          </p:cNvPr>
          <p:cNvSpPr txBox="1"/>
          <p:nvPr/>
        </p:nvSpPr>
        <p:spPr>
          <a:xfrm>
            <a:off x="7164798" y="2120948"/>
            <a:ext cx="3041086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Aptos Display" panose="020B0004020202020204" pitchFamily="34" charset="0"/>
              </a:rPr>
              <a:t>Business Analysis</a:t>
            </a:r>
            <a:br>
              <a:rPr lang="en-US" sz="2000" dirty="0">
                <a:latin typeface="Aptos Display" panose="020B0004020202020204" pitchFamily="34" charset="0"/>
              </a:rPr>
            </a:br>
            <a:br>
              <a:rPr lang="en-US" sz="2000" dirty="0">
                <a:latin typeface="Aptos Display" panose="020B0004020202020204" pitchFamily="34" charset="0"/>
              </a:rPr>
            </a:br>
            <a:r>
              <a:rPr lang="en-US" sz="2000" dirty="0">
                <a:latin typeface="Aptos Display" panose="020B0004020202020204" pitchFamily="34" charset="0"/>
              </a:rPr>
              <a:t>📈 </a:t>
            </a:r>
            <a:r>
              <a:rPr lang="en-US" sz="2000" b="1" dirty="0">
                <a:latin typeface="Aptos Display" panose="020B0004020202020204" pitchFamily="34" charset="0"/>
              </a:rPr>
              <a:t>Sales Analysis</a:t>
            </a:r>
            <a:endParaRPr lang="en-US" sz="2000" dirty="0">
              <a:latin typeface="Aptos Display" panose="020B0004020202020204" pitchFamily="34" charset="0"/>
            </a:endParaRPr>
          </a:p>
          <a:p>
            <a:pPr>
              <a:buNone/>
            </a:pPr>
            <a:r>
              <a:rPr lang="en-US" sz="2000" dirty="0">
                <a:latin typeface="Aptos Display" panose="020B0004020202020204" pitchFamily="34" charset="0"/>
              </a:rPr>
              <a:t>💰 </a:t>
            </a:r>
            <a:r>
              <a:rPr lang="en-US" sz="2000" b="1" dirty="0">
                <a:latin typeface="Aptos Display" panose="020B0004020202020204" pitchFamily="34" charset="0"/>
              </a:rPr>
              <a:t>Profit Analysis</a:t>
            </a:r>
            <a:endParaRPr lang="en-US" sz="2000" dirty="0">
              <a:latin typeface="Aptos Display" panose="020B0004020202020204" pitchFamily="34" charset="0"/>
            </a:endParaRPr>
          </a:p>
          <a:p>
            <a:pPr>
              <a:buNone/>
            </a:pPr>
            <a:r>
              <a:rPr lang="en-US" sz="2000" dirty="0">
                <a:latin typeface="Aptos Display" panose="020B0004020202020204" pitchFamily="34" charset="0"/>
              </a:rPr>
              <a:t>🌍 </a:t>
            </a:r>
            <a:r>
              <a:rPr lang="en-US" sz="2000" b="1" dirty="0">
                <a:latin typeface="Aptos Display" panose="020B0004020202020204" pitchFamily="34" charset="0"/>
              </a:rPr>
              <a:t>Regional Analysis</a:t>
            </a:r>
            <a:endParaRPr lang="en-US" sz="2000" dirty="0">
              <a:latin typeface="Aptos Display" panose="020B0004020202020204" pitchFamily="34" charset="0"/>
            </a:endParaRPr>
          </a:p>
          <a:p>
            <a:pPr>
              <a:buNone/>
            </a:pPr>
            <a:r>
              <a:rPr lang="en-US" sz="2000" dirty="0">
                <a:latin typeface="Aptos Display" panose="020B0004020202020204" pitchFamily="34" charset="0"/>
              </a:rPr>
              <a:t>📦 </a:t>
            </a:r>
            <a:r>
              <a:rPr lang="en-US" sz="2000" b="1" dirty="0">
                <a:latin typeface="Aptos Display" panose="020B0004020202020204" pitchFamily="34" charset="0"/>
              </a:rPr>
              <a:t>Product Analysis</a:t>
            </a:r>
            <a:endParaRPr lang="en-US" sz="2000" dirty="0">
              <a:latin typeface="Aptos Display" panose="020B0004020202020204" pitchFamily="34" charset="0"/>
            </a:endParaRPr>
          </a:p>
          <a:p>
            <a:pPr>
              <a:buNone/>
            </a:pPr>
            <a:r>
              <a:rPr lang="en-US" sz="2000" dirty="0">
                <a:latin typeface="Aptos Display" panose="020B0004020202020204" pitchFamily="34" charset="0"/>
              </a:rPr>
              <a:t>👥 </a:t>
            </a:r>
            <a:r>
              <a:rPr lang="en-US" sz="2000" b="1" dirty="0">
                <a:latin typeface="Aptos Display" panose="020B0004020202020204" pitchFamily="34" charset="0"/>
              </a:rPr>
              <a:t>Customer Analysis</a:t>
            </a:r>
            <a:endParaRPr lang="en-US" sz="2000" dirty="0">
              <a:latin typeface="Aptos Display" panose="020B0004020202020204" pitchFamily="34" charset="0"/>
            </a:endParaRPr>
          </a:p>
          <a:p>
            <a:pPr>
              <a:buNone/>
            </a:pPr>
            <a:r>
              <a:rPr lang="en-US" sz="2000" dirty="0">
                <a:latin typeface="Aptos Display" panose="020B0004020202020204" pitchFamily="34" charset="0"/>
              </a:rPr>
              <a:t>🚚 </a:t>
            </a:r>
            <a:r>
              <a:rPr lang="en-US" sz="2000" b="1" dirty="0">
                <a:latin typeface="Aptos Display" panose="020B0004020202020204" pitchFamily="34" charset="0"/>
              </a:rPr>
              <a:t>Operational Analysis</a:t>
            </a:r>
            <a:endParaRPr lang="en-US" sz="2000" dirty="0">
              <a:latin typeface="Aptos Display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C301A2-844B-0A5B-27AE-A75258117775}"/>
              </a:ext>
            </a:extLst>
          </p:cNvPr>
          <p:cNvSpPr txBox="1"/>
          <p:nvPr/>
        </p:nvSpPr>
        <p:spPr>
          <a:xfrm>
            <a:off x="1036831" y="5789270"/>
            <a:ext cx="106385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Aptos Display" panose="020B0004020202020204" pitchFamily="34" charset="0"/>
              </a:rPr>
              <a:t>30 SQL Queries    |    6 Business Domains    |    KPI Analysis</a:t>
            </a:r>
          </a:p>
        </p:txBody>
      </p:sp>
    </p:spTree>
    <p:extLst>
      <p:ext uri="{BB962C8B-B14F-4D97-AF65-F5344CB8AC3E}">
        <p14:creationId xmlns:p14="http://schemas.microsoft.com/office/powerpoint/2010/main" val="772473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877EA3-D06E-708B-2DD1-16F8DD9A169E}"/>
              </a:ext>
            </a:extLst>
          </p:cNvPr>
          <p:cNvSpPr txBox="1"/>
          <p:nvPr/>
        </p:nvSpPr>
        <p:spPr>
          <a:xfrm>
            <a:off x="414337" y="148709"/>
            <a:ext cx="112395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EXECUTIVE DASHBOARD</a:t>
            </a:r>
            <a:br>
              <a:rPr lang="en-US" sz="3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</a:br>
            <a:r>
              <a:rPr lang="en-US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Business Performance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8B8557-3573-2F07-76E5-D6DDA6137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650" y="1223865"/>
            <a:ext cx="7553325" cy="45703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3AA1549-852E-EF37-838F-E540B68E4A61}"/>
              </a:ext>
            </a:extLst>
          </p:cNvPr>
          <p:cNvSpPr txBox="1"/>
          <p:nvPr/>
        </p:nvSpPr>
        <p:spPr>
          <a:xfrm>
            <a:off x="414337" y="5915225"/>
            <a:ext cx="116109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dirty="0">
                <a:latin typeface="Aptos Display" panose="020B0004020202020204" pitchFamily="34" charset="0"/>
              </a:rPr>
              <a:t>Provides a high-level overview of business performance through interactive KPIs, sales trends, and regional analysis.</a:t>
            </a:r>
            <a:br>
              <a:rPr lang="en-US" dirty="0">
                <a:latin typeface="Aptos Display" panose="020B0004020202020204" pitchFamily="34" charset="0"/>
              </a:rPr>
            </a:br>
            <a:r>
              <a:rPr lang="en-US" dirty="0">
                <a:latin typeface="Aptos Display" panose="020B0004020202020204" pitchFamily="34" charset="0"/>
              </a:rPr>
              <a:t>Enables executives to monitor key metrics and make data-driven decisions using dynamic filters.</a:t>
            </a:r>
          </a:p>
        </p:txBody>
      </p:sp>
    </p:spTree>
    <p:extLst>
      <p:ext uri="{BB962C8B-B14F-4D97-AF65-F5344CB8AC3E}">
        <p14:creationId xmlns:p14="http://schemas.microsoft.com/office/powerpoint/2010/main" val="844623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4733CE-CBBD-CA8D-9F09-D0736AA24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361" y="1157585"/>
            <a:ext cx="8896350" cy="43624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130FC4-D943-20B2-F12E-449F822CCA75}"/>
              </a:ext>
            </a:extLst>
          </p:cNvPr>
          <p:cNvSpPr txBox="1"/>
          <p:nvPr/>
        </p:nvSpPr>
        <p:spPr>
          <a:xfrm>
            <a:off x="438149" y="141922"/>
            <a:ext cx="1153477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Product Performance Dashboard</a:t>
            </a:r>
          </a:p>
          <a:p>
            <a:pPr algn="ctr">
              <a:buNone/>
            </a:pPr>
            <a:r>
              <a:rPr lang="en-US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Analyzing Product Performance &amp; Profitability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FEA983-F63F-F045-3B14-81C9DE86BDBA}"/>
              </a:ext>
            </a:extLst>
          </p:cNvPr>
          <p:cNvSpPr txBox="1"/>
          <p:nvPr/>
        </p:nvSpPr>
        <p:spPr>
          <a:xfrm>
            <a:off x="257175" y="5612368"/>
            <a:ext cx="117157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dirty="0">
                <a:latin typeface="Aptos Display" panose="020B0004020202020204" pitchFamily="34" charset="0"/>
              </a:rPr>
              <a:t>Provides a comprehensive analysis of product sales, profitability, discounts, and category-wise performance through interactive visualizations.</a:t>
            </a:r>
          </a:p>
          <a:p>
            <a:pPr algn="ctr">
              <a:buNone/>
            </a:pPr>
            <a:r>
              <a:rPr lang="en-US" dirty="0">
                <a:latin typeface="Aptos Display" panose="020B0004020202020204" pitchFamily="34" charset="0"/>
              </a:rPr>
              <a:t>Helps identify top-performing products, loss-making items, and opportunities to improve product profitability.</a:t>
            </a:r>
          </a:p>
        </p:txBody>
      </p:sp>
    </p:spTree>
    <p:extLst>
      <p:ext uri="{BB962C8B-B14F-4D97-AF65-F5344CB8AC3E}">
        <p14:creationId xmlns:p14="http://schemas.microsoft.com/office/powerpoint/2010/main" val="3411228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D7CD00-052E-2981-39AD-78FDC2DA0FFC}"/>
              </a:ext>
            </a:extLst>
          </p:cNvPr>
          <p:cNvSpPr txBox="1"/>
          <p:nvPr/>
        </p:nvSpPr>
        <p:spPr>
          <a:xfrm>
            <a:off x="295275" y="138410"/>
            <a:ext cx="117443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Customer &amp; Operations Dashboard</a:t>
            </a:r>
            <a:b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</a:br>
            <a:r>
              <a:rPr lang="en-U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Customer Behavior &amp; Operational Performance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036829-794B-6515-3DB0-C09EB5130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225" y="1233159"/>
            <a:ext cx="9134475" cy="44224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1166E9B-657B-6A94-503E-F115A3A74F6B}"/>
              </a:ext>
            </a:extLst>
          </p:cNvPr>
          <p:cNvSpPr txBox="1"/>
          <p:nvPr/>
        </p:nvSpPr>
        <p:spPr>
          <a:xfrm>
            <a:off x="363946" y="5796260"/>
            <a:ext cx="114641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dirty="0">
                <a:latin typeface="Aptos Display" panose="020B0004020202020204" pitchFamily="34" charset="0"/>
              </a:rPr>
              <a:t>Analyzes customer behavior, operational efficiency, return rates, and shipping performance through interactive business metrics.</a:t>
            </a:r>
          </a:p>
          <a:p>
            <a:pPr algn="ctr">
              <a:buNone/>
            </a:pPr>
            <a:r>
              <a:rPr lang="en-US" dirty="0">
                <a:latin typeface="Aptos Display" panose="020B0004020202020204" pitchFamily="34" charset="0"/>
              </a:rPr>
              <a:t>Helps optimize customer experience, improve operational processes, and support data-driven business decisions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53508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2A6BDD-FFD5-0ECC-BBA8-F3B34060446A}"/>
              </a:ext>
            </a:extLst>
          </p:cNvPr>
          <p:cNvSpPr txBox="1"/>
          <p:nvPr/>
        </p:nvSpPr>
        <p:spPr>
          <a:xfrm>
            <a:off x="195262" y="81260"/>
            <a:ext cx="1180147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Business Insights Dashboard</a:t>
            </a:r>
            <a:b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</a:br>
            <a:r>
              <a:rPr lang="en-U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Advanced Analytics &amp; Decision Support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42F67F-86D7-55CC-0299-9D0E6E70B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275" y="1035368"/>
            <a:ext cx="8448675" cy="46223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526BDD-5F1A-4A4E-8E7C-50FBDBF27BF8}"/>
              </a:ext>
            </a:extLst>
          </p:cNvPr>
          <p:cNvSpPr txBox="1"/>
          <p:nvPr/>
        </p:nvSpPr>
        <p:spPr>
          <a:xfrm>
            <a:off x="300038" y="5657671"/>
            <a:ext cx="118919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dirty="0">
                <a:latin typeface="Aptos Display" panose="020B0004020202020204" pitchFamily="34" charset="0"/>
              </a:rPr>
              <a:t>Delivers advanced business insights using Decomposition Tree, Key Influencers, and interactive analytics to uncover performance drivers.</a:t>
            </a:r>
          </a:p>
          <a:p>
            <a:pPr algn="ctr">
              <a:buNone/>
            </a:pPr>
            <a:r>
              <a:rPr lang="en-US" dirty="0">
                <a:latin typeface="Aptos Display" panose="020B0004020202020204" pitchFamily="34" charset="0"/>
              </a:rPr>
              <a:t>Supports strategic decision-making by identifying profitable markets, high-margin categories, return trends, and actionable business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543547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FEE3E31-D358-F162-8A58-77DFCB3EA761}"/>
              </a:ext>
            </a:extLst>
          </p:cNvPr>
          <p:cNvSpPr txBox="1"/>
          <p:nvPr/>
        </p:nvSpPr>
        <p:spPr>
          <a:xfrm>
            <a:off x="1347787" y="5262563"/>
            <a:ext cx="742949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ptos Display" panose="020B0004020202020204" pitchFamily="34" charset="0"/>
              </a:rPr>
              <a:t>📩 Connect With Me</a:t>
            </a:r>
            <a:br>
              <a:rPr lang="en-US" sz="1600" dirty="0">
                <a:latin typeface="Aptos Display" panose="020B0004020202020204" pitchFamily="34" charset="0"/>
              </a:rPr>
            </a:br>
            <a:br>
              <a:rPr lang="en-US" sz="1600" dirty="0">
                <a:latin typeface="Aptos Display" panose="020B0004020202020204" pitchFamily="34" charset="0"/>
              </a:rPr>
            </a:br>
            <a:r>
              <a:rPr lang="en-US" sz="1600" dirty="0">
                <a:latin typeface="Aptos Display" panose="020B0004020202020204" pitchFamily="34" charset="0"/>
              </a:rPr>
              <a:t>Sanjana Sharma </a:t>
            </a:r>
            <a:br>
              <a:rPr lang="en-US" sz="1600" dirty="0">
                <a:latin typeface="Aptos Display" panose="020B0004020202020204" pitchFamily="34" charset="0"/>
              </a:rPr>
            </a:br>
            <a:r>
              <a:rPr lang="en-US" sz="1600" dirty="0">
                <a:latin typeface="Aptos Display" panose="020B0004020202020204" pitchFamily="34" charset="0"/>
              </a:rPr>
              <a:t>Email : sssanjana35@gmail.com</a:t>
            </a:r>
            <a:br>
              <a:rPr lang="en-US" sz="1600" dirty="0">
                <a:latin typeface="Aptos Display" panose="020B0004020202020204" pitchFamily="34" charset="0"/>
              </a:rPr>
            </a:br>
            <a:r>
              <a:rPr lang="en-US" sz="1600" dirty="0">
                <a:latin typeface="Aptos Display" panose="020B0004020202020204" pitchFamily="34" charset="0"/>
              </a:rPr>
              <a:t>LinkedIn : https://www.linkedin.com/in/sanjanasharmaba/</a:t>
            </a:r>
            <a:br>
              <a:rPr lang="en-US" sz="1600" dirty="0">
                <a:latin typeface="Aptos Display" panose="020B0004020202020204" pitchFamily="34" charset="0"/>
              </a:rPr>
            </a:br>
            <a:r>
              <a:rPr lang="en-US" sz="1600" dirty="0">
                <a:latin typeface="Aptos Display" panose="020B0004020202020204" pitchFamily="34" charset="0"/>
              </a:rPr>
              <a:t>GitHub : https://github.com/sanjana02041902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6F7FD14-43AE-AD7F-FFCE-94A8BD5E1EB7}"/>
              </a:ext>
            </a:extLst>
          </p:cNvPr>
          <p:cNvSpPr/>
          <p:nvPr/>
        </p:nvSpPr>
        <p:spPr>
          <a:xfrm>
            <a:off x="2471736" y="2071687"/>
            <a:ext cx="3257551" cy="2714625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dirty="0">
                <a:latin typeface="Aptos Display" panose="020B0004020202020204" pitchFamily="34" charset="0"/>
              </a:rPr>
              <a:t>💻 Tools &amp; Technologies</a:t>
            </a:r>
            <a:br>
              <a:rPr lang="en-US" sz="2000" b="1" dirty="0">
                <a:latin typeface="Aptos Display" panose="020B0004020202020204" pitchFamily="34" charset="0"/>
              </a:rPr>
            </a:br>
            <a:r>
              <a:rPr lang="en-US" sz="2000" b="1" dirty="0">
                <a:latin typeface="Aptos Display" panose="020B0004020202020204" pitchFamily="34" charset="0"/>
              </a:rPr>
              <a:t> </a:t>
            </a:r>
          </a:p>
          <a:p>
            <a:r>
              <a:rPr lang="en-US" sz="2000" dirty="0">
                <a:latin typeface="Aptos Display" panose="020B0004020202020204" pitchFamily="34" charset="0"/>
              </a:rPr>
              <a:t>Excel </a:t>
            </a:r>
          </a:p>
          <a:p>
            <a:r>
              <a:rPr lang="en-US" sz="2000" dirty="0">
                <a:latin typeface="Aptos Display" panose="020B0004020202020204" pitchFamily="34" charset="0"/>
              </a:rPr>
              <a:t>MySQL </a:t>
            </a:r>
          </a:p>
          <a:p>
            <a:r>
              <a:rPr lang="en-US" sz="2000" dirty="0">
                <a:latin typeface="Aptos Display" panose="020B0004020202020204" pitchFamily="34" charset="0"/>
              </a:rPr>
              <a:t>Power BI </a:t>
            </a:r>
          </a:p>
          <a:p>
            <a:r>
              <a:rPr lang="en-US" sz="2000" dirty="0">
                <a:latin typeface="Aptos Display" panose="020B0004020202020204" pitchFamily="34" charset="0"/>
              </a:rPr>
              <a:t>DAX 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B9BAFC7-1C92-7376-B431-B579037265A6}"/>
              </a:ext>
            </a:extLst>
          </p:cNvPr>
          <p:cNvSpPr/>
          <p:nvPr/>
        </p:nvSpPr>
        <p:spPr>
          <a:xfrm>
            <a:off x="6462714" y="2071687"/>
            <a:ext cx="3076574" cy="2714625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dirty="0">
                <a:latin typeface="Aptos Display" panose="020B0004020202020204" pitchFamily="34" charset="0"/>
              </a:rPr>
              <a:t>📚 Skills Demonstrated</a:t>
            </a:r>
            <a:br>
              <a:rPr lang="en-US" sz="2000" dirty="0">
                <a:latin typeface="Aptos Display" panose="020B0004020202020204" pitchFamily="34" charset="0"/>
              </a:rPr>
            </a:br>
            <a:br>
              <a:rPr lang="en-US" sz="2000" dirty="0">
                <a:latin typeface="Aptos Display" panose="020B0004020202020204" pitchFamily="34" charset="0"/>
              </a:rPr>
            </a:br>
            <a:r>
              <a:rPr lang="en-US" sz="2000" dirty="0">
                <a:latin typeface="Aptos Display" panose="020B0004020202020204" pitchFamily="34" charset="0"/>
              </a:rPr>
              <a:t>Data Cleaning</a:t>
            </a:r>
            <a:br>
              <a:rPr lang="en-US" sz="2000" dirty="0">
                <a:latin typeface="Aptos Display" panose="020B0004020202020204" pitchFamily="34" charset="0"/>
              </a:rPr>
            </a:br>
            <a:r>
              <a:rPr lang="en-US" sz="2000" dirty="0">
                <a:latin typeface="Aptos Display" panose="020B0004020202020204" pitchFamily="34" charset="0"/>
              </a:rPr>
              <a:t>SQL Analysis</a:t>
            </a:r>
            <a:br>
              <a:rPr lang="en-US" sz="2000" dirty="0">
                <a:latin typeface="Aptos Display" panose="020B0004020202020204" pitchFamily="34" charset="0"/>
              </a:rPr>
            </a:br>
            <a:r>
              <a:rPr lang="en-US" sz="2000" dirty="0">
                <a:latin typeface="Aptos Display" panose="020B0004020202020204" pitchFamily="34" charset="0"/>
              </a:rPr>
              <a:t>Dashboard Development</a:t>
            </a:r>
            <a:br>
              <a:rPr lang="en-US" sz="2000" dirty="0">
                <a:latin typeface="Aptos Display" panose="020B0004020202020204" pitchFamily="34" charset="0"/>
              </a:rPr>
            </a:br>
            <a:r>
              <a:rPr lang="en-US" sz="2000" dirty="0">
                <a:latin typeface="Aptos Display" panose="020B0004020202020204" pitchFamily="34" charset="0"/>
              </a:rPr>
              <a:t>Data Storytelling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1FB03B-AA99-FDEE-564D-286BC647B1A9}"/>
              </a:ext>
            </a:extLst>
          </p:cNvPr>
          <p:cNvSpPr/>
          <p:nvPr/>
        </p:nvSpPr>
        <p:spPr>
          <a:xfrm>
            <a:off x="1100137" y="348555"/>
            <a:ext cx="9801225" cy="1009650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Aptos Display" panose="020B0004020202020204" pitchFamily="34" charset="0"/>
              </a:rPr>
              <a:t>THANK YOU</a:t>
            </a:r>
            <a:br>
              <a:rPr lang="en-US" sz="3600" dirty="0">
                <a:latin typeface="Aptos Display" panose="020B0004020202020204" pitchFamily="34" charset="0"/>
              </a:rPr>
            </a:br>
            <a:r>
              <a:rPr lang="en-US" sz="2000" dirty="0">
                <a:latin typeface="Aptos Display" panose="020B0004020202020204" pitchFamily="34" charset="0"/>
              </a:rPr>
              <a:t>End-to-End Analytics Project</a:t>
            </a:r>
          </a:p>
        </p:txBody>
      </p:sp>
    </p:spTree>
    <p:extLst>
      <p:ext uri="{BB962C8B-B14F-4D97-AF65-F5344CB8AC3E}">
        <p14:creationId xmlns:p14="http://schemas.microsoft.com/office/powerpoint/2010/main" val="39368720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180</TotalTime>
  <Words>605</Words>
  <Application>Microsoft Office PowerPoint</Application>
  <PresentationFormat>Widescreen</PresentationFormat>
  <Paragraphs>94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 Display</vt:lpstr>
      <vt:lpstr>Aptos Narrow</vt:lpstr>
      <vt:lpstr>Arial</vt:lpstr>
      <vt:lpstr>Calibri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Sanjana Sharma</dc:creator>
  <cp:lastModifiedBy>Sanjana Sharma</cp:lastModifiedBy>
  <cp:revision>1</cp:revision>
  <dcterms:created xsi:type="dcterms:W3CDTF">2026-06-25T12:08:30Z</dcterms:created>
  <dcterms:modified xsi:type="dcterms:W3CDTF">2026-06-25T15:09:02Z</dcterms:modified>
</cp:coreProperties>
</file>